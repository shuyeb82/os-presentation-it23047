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8" r:id="rId7"/>
    <p:sldId id="260" r:id="rId8"/>
    <p:sldId id="261" r:id="rId9"/>
    <p:sldId id="262" r:id="rId10"/>
    <p:sldId id="269" r:id="rId11"/>
    <p:sldId id="271" r:id="rId12"/>
    <p:sldId id="270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8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/>
            </a:gs>
            <a:gs pos="97000">
              <a:schemeClr val="accent6">
                <a:lumMod val="25000"/>
                <a:lumOff val="75000"/>
              </a:schemeClr>
            </a:gs>
            <a:gs pos="100000">
              <a:schemeClr val="accent6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12" name="Content Placeholder 11" descr="MBSTU_Logo-removebg-preview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65550" y="0"/>
            <a:ext cx="2000250" cy="19907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9540" y="4055110"/>
            <a:ext cx="4440555" cy="253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2400" b="1">
                <a:solidFill>
                  <a:schemeClr val="tx1"/>
                </a:solidFill>
              </a:rPr>
              <a:t>Presented By:</a:t>
            </a:r>
            <a:endParaRPr lang="en-US" sz="24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Shuyaib Hasan Shuyeb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ID: IT23047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Department of In formation and Communication Technology,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MBSTU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79010" y="4055110"/>
            <a:ext cx="4240530" cy="2531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2400" b="1">
                <a:solidFill>
                  <a:schemeClr val="tx1"/>
                </a:solidFill>
              </a:rPr>
              <a:t>Supervised By:</a:t>
            </a:r>
            <a:endParaRPr lang="en-US" sz="2400" b="1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Dr. Nazrul Islam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</a:rPr>
              <a:t>Associate Professor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sym typeface="+mn-ea"/>
              </a:rPr>
              <a:t>Department of Information and CommunicationTechnology,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sym typeface="+mn-ea"/>
              </a:rPr>
              <a:t>MBSTU</a:t>
            </a:r>
            <a:endParaRPr lang="en-US" sz="2400">
              <a:solidFill>
                <a:schemeClr val="tx1"/>
              </a:solidFill>
            </a:endParaRPr>
          </a:p>
          <a:p>
            <a:endParaRPr lang="en-US" sz="2400"/>
          </a:p>
        </p:txBody>
      </p:sp>
      <p:sp>
        <p:nvSpPr>
          <p:cNvPr id="16" name="Text Box 15"/>
          <p:cNvSpPr txBox="1"/>
          <p:nvPr/>
        </p:nvSpPr>
        <p:spPr>
          <a:xfrm>
            <a:off x="172720" y="2922905"/>
            <a:ext cx="4681855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/>
              <a:t>Course Code:ICT</a:t>
            </a:r>
            <a:r>
              <a:rPr lang="en-US" sz="3200"/>
              <a:t>- </a:t>
            </a:r>
            <a:r>
              <a:rPr lang="en-US" sz="2800"/>
              <a:t>2201</a:t>
            </a:r>
            <a:endParaRPr lang="en-US" sz="2800"/>
          </a:p>
        </p:txBody>
      </p:sp>
      <p:sp>
        <p:nvSpPr>
          <p:cNvPr id="17" name="Text Box 16"/>
          <p:cNvSpPr txBox="1"/>
          <p:nvPr/>
        </p:nvSpPr>
        <p:spPr>
          <a:xfrm>
            <a:off x="172720" y="2075815"/>
            <a:ext cx="8842375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sym typeface="+mn-ea"/>
              </a:rPr>
              <a:t>PRESENTATION TOPIC: UNIX OPERATING SYSTEM</a:t>
            </a:r>
            <a:endParaRPr lang="en-US" sz="3200" b="1"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154305" y="2555875"/>
            <a:ext cx="6373495" cy="617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/>
              <a:t>Course Title: Operating System</a:t>
            </a:r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What is UNIX</a:t>
            </a:r>
            <a:endParaRPr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57200" y="1600200"/>
            <a:ext cx="8229600" cy="3895090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19050" cap="flat" cmpd="sng" algn="ctr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prstDash val="soli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marL="0" indent="0">
              <a:buNone/>
            </a:pPr>
            <a:r>
              <a:t>• UNIX is a </a:t>
            </a:r>
            <a:r>
              <a:rPr b="1"/>
              <a:t>multiuser operating system.</a:t>
            </a:r>
            <a:endParaRPr b="1"/>
          </a:p>
          <a:p>
            <a:pPr marL="0" indent="0">
              <a:buNone/>
            </a:pPr>
            <a:r>
              <a:t>• Developed in </a:t>
            </a:r>
            <a:r>
              <a:rPr b="1"/>
              <a:t>1969</a:t>
            </a:r>
            <a:r>
              <a:t>.</a:t>
            </a:r>
          </a:p>
          <a:p>
            <a:pPr marL="0" indent="0">
              <a:buNone/>
            </a:pPr>
            <a:r>
              <a:t>• Used in </a:t>
            </a:r>
            <a:r>
              <a:rPr b="1"/>
              <a:t>servers and networks</a:t>
            </a:r>
            <a:r>
              <a:t>.</a:t>
            </a:r>
          </a:p>
          <a:p>
            <a:pPr marL="0" indent="0">
              <a:buNone/>
            </a:pPr>
            <a:r>
              <a:t>• Handles </a:t>
            </a:r>
            <a:r>
              <a:rPr b="1"/>
              <a:t>multiple users</a:t>
            </a:r>
            <a:r>
              <a:t> at 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Why UNIX is Used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9755"/>
            <a:ext cx="8228965" cy="3547110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  <a:gs pos="67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99000">
                <a:schemeClr val="accent1">
                  <a:lumMod val="85000"/>
                </a:schemeClr>
              </a:gs>
            </a:gsLst>
            <a:lin ang="5400000" scaled="1"/>
          </a:gradFill>
          <a:ln w="19050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prstDash val="solid"/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sz="3600">
                <a:solidFill>
                  <a:schemeClr val="tx1"/>
                </a:solidFill>
              </a:rPr>
              <a:t>• </a:t>
            </a:r>
            <a:r>
              <a:rPr sz="3600" b="1">
                <a:solidFill>
                  <a:schemeClr val="tx1"/>
                </a:solidFill>
              </a:rPr>
              <a:t>Stable</a:t>
            </a:r>
            <a:r>
              <a:rPr sz="3600">
                <a:solidFill>
                  <a:schemeClr val="tx1"/>
                </a:solidFill>
              </a:rPr>
              <a:t> and </a:t>
            </a:r>
            <a:r>
              <a:rPr sz="3600" b="1">
                <a:solidFill>
                  <a:schemeClr val="tx1"/>
                </a:solidFill>
              </a:rPr>
              <a:t>reliable</a:t>
            </a:r>
            <a:r>
              <a:rPr sz="3600">
                <a:solidFill>
                  <a:schemeClr val="tx1"/>
                </a:solidFill>
              </a:rPr>
              <a:t>.</a:t>
            </a:r>
            <a:endParaRPr sz="3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3600">
                <a:solidFill>
                  <a:schemeClr val="tx1"/>
                </a:solidFill>
              </a:rPr>
              <a:t>• </a:t>
            </a:r>
            <a:r>
              <a:rPr sz="3600" b="1">
                <a:solidFill>
                  <a:schemeClr val="tx1"/>
                </a:solidFill>
              </a:rPr>
              <a:t>Strong security.</a:t>
            </a:r>
            <a:endParaRPr sz="3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3600">
                <a:solidFill>
                  <a:schemeClr val="tx1"/>
                </a:solidFill>
              </a:rPr>
              <a:t>• Supports </a:t>
            </a:r>
            <a:r>
              <a:rPr sz="3600" b="1">
                <a:solidFill>
                  <a:schemeClr val="tx1"/>
                </a:solidFill>
              </a:rPr>
              <a:t>multitasking</a:t>
            </a:r>
            <a:r>
              <a:rPr sz="3600">
                <a:solidFill>
                  <a:schemeClr val="tx1"/>
                </a:solidFill>
              </a:rPr>
              <a:t>.</a:t>
            </a:r>
            <a:endParaRPr sz="3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3600">
                <a:solidFill>
                  <a:schemeClr val="tx1"/>
                </a:solidFill>
              </a:rPr>
              <a:t>• Used in </a:t>
            </a:r>
            <a:r>
              <a:rPr sz="3600" b="1">
                <a:solidFill>
                  <a:schemeClr val="tx1"/>
                </a:solidFill>
              </a:rPr>
              <a:t>servers and IT systems</a:t>
            </a:r>
            <a:r>
              <a:rPr sz="3600">
                <a:solidFill>
                  <a:schemeClr val="tx1"/>
                </a:solidFill>
              </a:rPr>
              <a:t>.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000">
              <a:schemeClr val="accent1"/>
            </a:gs>
            <a:gs pos="11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History of UNIX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35" y="1600200"/>
            <a:ext cx="8583930" cy="3589020"/>
          </a:xfrm>
          <a:gradFill>
            <a:gsLst>
              <a:gs pos="62000">
                <a:schemeClr val="accent1"/>
              </a:gs>
              <a:gs pos="2200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28575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prstDash val="solid"/>
          </a:ln>
        </p:spPr>
        <p:txBody>
          <a:bodyPr/>
          <a:lstStyle/>
          <a:p>
            <a:pPr marL="0" indent="0">
              <a:buNone/>
            </a:pPr>
            <a:r>
              <a:t>• Developed at</a:t>
            </a:r>
            <a:r>
              <a:rPr b="1"/>
              <a:t> Bell Labs.</a:t>
            </a:r>
            <a:endParaRPr b="1"/>
          </a:p>
          <a:p>
            <a:pPr marL="0" indent="0">
              <a:buNone/>
            </a:pPr>
            <a:r>
              <a:t>• Created by </a:t>
            </a:r>
            <a:r>
              <a:rPr b="1"/>
              <a:t>Ken Thompson</a:t>
            </a:r>
            <a:endParaRPr b="1"/>
          </a:p>
          <a:p>
            <a:pPr marL="0" indent="0">
              <a:buNone/>
            </a:pPr>
            <a:r>
              <a:t> </a:t>
            </a:r>
            <a:r>
              <a:rPr lang="en-US"/>
              <a:t>  </a:t>
            </a:r>
            <a:r>
              <a:t> and </a:t>
            </a:r>
            <a:r>
              <a:rPr b="1"/>
              <a:t>Dennis Ritchie</a:t>
            </a:r>
            <a:r>
              <a:t>.</a:t>
            </a:r>
          </a:p>
          <a:p>
            <a:pPr marL="0" indent="0">
              <a:buNone/>
            </a:pPr>
            <a:r>
              <a:t>• Written in </a:t>
            </a:r>
            <a:r>
              <a:rPr b="1"/>
              <a:t>C language</a:t>
            </a:r>
            <a:r>
              <a:t>.</a:t>
            </a:r>
          </a:p>
          <a:p>
            <a:pPr marL="0" indent="0">
              <a:buNone/>
            </a:pPr>
            <a:r>
              <a:t>• Base of </a:t>
            </a:r>
            <a:r>
              <a:rPr b="1"/>
              <a:t>Linux and macOS</a:t>
            </a:r>
            <a:r>
              <a:t>.</a:t>
            </a:r>
          </a:p>
        </p:txBody>
      </p:sp>
      <p:pic>
        <p:nvPicPr>
          <p:cNvPr id="9" name="Picture 8" descr="Ken_Thompson_and_Dennis_Ritchie--19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445" y="1602105"/>
            <a:ext cx="3779520" cy="27019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7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Core Features of Unix</a:t>
            </a:r>
            <a:endParaRPr lang="en-US"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pic>
        <p:nvPicPr>
          <p:cNvPr id="4" name="Content Placeholder 3" descr="Screenshot 2026-04-24 15054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244725"/>
            <a:ext cx="2916555" cy="2293620"/>
          </a:xfrm>
          <a:prstGeom prst="rect">
            <a:avLst/>
          </a:prstGeom>
        </p:spPr>
      </p:pic>
      <p:pic>
        <p:nvPicPr>
          <p:cNvPr id="5" name="Picture 4" descr="Screenshot 2026-04-24 1505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330" y="2244725"/>
            <a:ext cx="2502535" cy="2294255"/>
          </a:xfrm>
          <a:prstGeom prst="rect">
            <a:avLst/>
          </a:prstGeom>
        </p:spPr>
      </p:pic>
      <p:pic>
        <p:nvPicPr>
          <p:cNvPr id="6" name="Picture 5" descr="Screenshot 2026-04-24 1506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2244725"/>
            <a:ext cx="2550795" cy="2311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UNIX Architecture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910" y="1600200"/>
            <a:ext cx="8687435" cy="3940810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txBody>
          <a:bodyPr/>
          <a:lstStyle/>
          <a:p>
            <a:pPr marL="0" indent="0">
              <a:buNone/>
            </a:pPr>
            <a:r>
              <a:rPr sz="3600"/>
              <a:t>•</a:t>
            </a:r>
            <a:r>
              <a:rPr sz="3600" b="1"/>
              <a:t> Kernel</a:t>
            </a:r>
            <a:r>
              <a:rPr sz="3600"/>
              <a:t> – core part.</a:t>
            </a:r>
            <a:endParaRPr sz="3600"/>
          </a:p>
          <a:p>
            <a:pPr marL="0" indent="0">
              <a:buNone/>
            </a:pPr>
            <a:r>
              <a:rPr sz="3600"/>
              <a:t>• </a:t>
            </a:r>
            <a:r>
              <a:rPr sz="3600" b="1"/>
              <a:t>Shell </a:t>
            </a:r>
            <a:r>
              <a:rPr sz="3600"/>
              <a:t>– user interface.</a:t>
            </a:r>
            <a:endParaRPr sz="3600"/>
          </a:p>
          <a:p>
            <a:pPr marL="0" indent="0">
              <a:buNone/>
            </a:pPr>
            <a:r>
              <a:rPr sz="3600"/>
              <a:t>• </a:t>
            </a:r>
            <a:r>
              <a:rPr sz="3600" b="1"/>
              <a:t>File System.</a:t>
            </a:r>
            <a:endParaRPr sz="3600"/>
          </a:p>
          <a:p>
            <a:pPr marL="0" indent="0">
              <a:buNone/>
            </a:pPr>
            <a:r>
              <a:rPr sz="3600"/>
              <a:t>•</a:t>
            </a:r>
            <a:r>
              <a:rPr sz="3600" b="1"/>
              <a:t> Hardware</a:t>
            </a:r>
            <a:r>
              <a:rPr sz="3600"/>
              <a:t> interaction</a:t>
            </a:r>
            <a:r>
              <a:rPr sz="3600" b="1"/>
              <a:t>.</a:t>
            </a:r>
            <a:endParaRPr sz="3600" b="1"/>
          </a:p>
        </p:txBody>
      </p:sp>
      <p:pic>
        <p:nvPicPr>
          <p:cNvPr id="14" name="Picture 13" descr="unux_architecture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5235" y="1600200"/>
            <a:ext cx="3928110" cy="39046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UNIX File System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600200"/>
            <a:ext cx="8679180" cy="3531235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19050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txBody>
          <a:bodyPr/>
          <a:lstStyle/>
          <a:p>
            <a:pPr marL="0" indent="0">
              <a:buNone/>
            </a:pPr>
            <a:r>
              <a:rPr sz="3600"/>
              <a:t>•</a:t>
            </a:r>
            <a:r>
              <a:rPr sz="3600" b="1"/>
              <a:t> </a:t>
            </a:r>
            <a:r>
              <a:rPr lang="en-US" sz="3600" b="1"/>
              <a:t>Hierarchical</a:t>
            </a:r>
            <a:r>
              <a:rPr lang="en-US" sz="3600"/>
              <a:t> (</a:t>
            </a:r>
            <a:r>
              <a:rPr sz="3600"/>
              <a:t>Tree structure</a:t>
            </a:r>
            <a:r>
              <a:rPr lang="en-US" sz="3600"/>
              <a:t>)</a:t>
            </a:r>
            <a:r>
              <a:rPr sz="3600"/>
              <a:t>.</a:t>
            </a:r>
            <a:endParaRPr sz="3600"/>
          </a:p>
          <a:p>
            <a:pPr marL="0" indent="0">
              <a:buNone/>
            </a:pPr>
            <a:r>
              <a:rPr sz="3600"/>
              <a:t>• </a:t>
            </a:r>
            <a:r>
              <a:rPr sz="3600" b="1"/>
              <a:t>Root directory:</a:t>
            </a:r>
            <a:r>
              <a:rPr lang="en-US" sz="3600" b="1"/>
              <a:t>”</a:t>
            </a:r>
            <a:r>
              <a:rPr sz="3600" b="1"/>
              <a:t>/</a:t>
            </a:r>
            <a:r>
              <a:rPr lang="en-US" sz="3600" b="1"/>
              <a:t>”</a:t>
            </a:r>
            <a:endParaRPr lang="en-US" sz="3600"/>
          </a:p>
          <a:p>
            <a:pPr marL="0" indent="0">
              <a:buNone/>
            </a:pPr>
            <a:r>
              <a:rPr sz="3600">
                <a:sym typeface="+mn-ea"/>
              </a:rPr>
              <a:t>•</a:t>
            </a:r>
            <a:r>
              <a:rPr lang="en-US" sz="3600"/>
              <a:t>Example Folder:</a:t>
            </a:r>
            <a:endParaRPr lang="en-US" sz="3600"/>
          </a:p>
          <a:p>
            <a:pPr marL="0" indent="0">
              <a:buNone/>
            </a:pPr>
            <a:r>
              <a:rPr lang="en-US" sz="3600"/>
              <a:t>     </a:t>
            </a:r>
            <a:r>
              <a:rPr sz="3600"/>
              <a:t>•</a:t>
            </a:r>
            <a:r>
              <a:rPr sz="3600" b="1"/>
              <a:t> /home, /bin, /etc</a:t>
            </a:r>
            <a:endParaRPr sz="3600"/>
          </a:p>
          <a:p>
            <a:pPr marL="0" indent="0">
              <a:buNone/>
            </a:pPr>
            <a:r>
              <a:rPr sz="3600"/>
              <a:t>• Organized storage system</a:t>
            </a:r>
            <a:endParaRPr sz="3600"/>
          </a:p>
          <a:p>
            <a:pPr marL="0" indent="0">
              <a:buNone/>
            </a:pPr>
            <a:endParaRPr sz="3600"/>
          </a:p>
        </p:txBody>
      </p:sp>
      <p:sp>
        <p:nvSpPr>
          <p:cNvPr id="4" name="Rectangle 3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pic>
        <p:nvPicPr>
          <p:cNvPr id="12" name="Picture 11" descr="Unix-File-System-2__1_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645" y="1600200"/>
            <a:ext cx="2988945" cy="3504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Basic UNIX Commands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7640"/>
            <a:ext cx="8229600" cy="4525963"/>
          </a:xfrm>
        </p:spPr>
        <p:txBody>
          <a:bodyPr/>
          <a:lstStyle/>
          <a:p>
            <a:r>
              <a:t>• ls – list files</a:t>
            </a:r>
          </a:p>
          <a:p>
            <a:r>
              <a:t>• cd – change directory</a:t>
            </a:r>
          </a:p>
          <a:p>
            <a:r>
              <a:t>• pwd – show path</a:t>
            </a:r>
          </a:p>
          <a:p>
            <a:r>
              <a:t>• mkdir – create folder</a:t>
            </a: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486410" y="1461770"/>
          <a:ext cx="8241030" cy="4382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515"/>
                <a:gridCol w="4120515"/>
              </a:tblGrid>
              <a:tr h="748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 b="1"/>
                        <a:t>Commands</a:t>
                      </a:r>
                      <a:endParaRPr lang="en-US" sz="3600" b="1"/>
                    </a:p>
                  </a:txBody>
                  <a:tcPr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What it does</a:t>
                      </a:r>
                      <a:endParaRPr lang="en-US" sz="3200"/>
                    </a:p>
                  </a:txBody>
                  <a:tcPr anchor="ctr" anchorCtr="0"/>
                </a:tc>
              </a:tr>
              <a:tr h="726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 b="0"/>
                        <a:t>ls</a:t>
                      </a:r>
                      <a:endParaRPr lang="en-US" sz="3600" b="0"/>
                    </a:p>
                  </a:txBody>
                  <a:tcPr anchor="ctr" anchorCtr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200"/>
                        <a:t>list files</a:t>
                      </a:r>
                      <a:endParaRPr lang="en-US" sz="3200"/>
                    </a:p>
                  </a:txBody>
                  <a:tcPr anchor="ctr" anchorCtr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27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cd</a:t>
                      </a:r>
                      <a:endParaRPr lang="en-US" sz="3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change directory</a:t>
                      </a:r>
                      <a:endParaRPr lang="en-US" sz="3600"/>
                    </a:p>
                  </a:txBody>
                  <a:tcPr anchor="ctr" anchorCtr="0"/>
                </a:tc>
              </a:tr>
              <a:tr h="727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pwd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show current path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27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mkdir</a:t>
                      </a:r>
                      <a:endParaRPr lang="en-US" sz="3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creat folder</a:t>
                      </a:r>
                      <a:endParaRPr lang="en-US" sz="3600"/>
                    </a:p>
                  </a:txBody>
                  <a:tcPr anchor="ctr" anchorCtr="0"/>
                </a:tc>
              </a:tr>
              <a:tr h="726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rm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remove files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Popular Unix System</a:t>
            </a:r>
            <a:endParaRPr lang="en-US"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845" y="1964055"/>
            <a:ext cx="5179060" cy="3085465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19050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prstDash val="solid"/>
          </a:ln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 b="1"/>
              <a:t>Linux:</a:t>
            </a:r>
            <a:r>
              <a:rPr lang="en-US"/>
              <a:t> The open-source             	version thst runs the internet</a:t>
            </a: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 b="1"/>
              <a:t>macOs:</a:t>
            </a:r>
            <a:r>
              <a:rPr lang="en-US"/>
              <a:t> Apple’s computer run  	on a Unix core</a:t>
            </a: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 b="1"/>
              <a:t>Android</a:t>
            </a: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 b="1"/>
              <a:t>FreeBSD:</a:t>
            </a:r>
            <a:r>
              <a:rPr lang="en-US"/>
              <a:t> High-end system 	used 	by big companis</a:t>
            </a:r>
            <a:endParaRPr lang="en-US"/>
          </a:p>
        </p:txBody>
      </p:sp>
      <p:pic>
        <p:nvPicPr>
          <p:cNvPr id="4" name="Picture 3" descr="Screenshot 2026-04-24 2006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25" y="1964055"/>
            <a:ext cx="3251200" cy="30714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Real-Life Uses of Unix</a:t>
            </a:r>
            <a:endParaRPr lang="en-US"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57930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 w="19050"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txBody>
          <a:bodyPr/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/>
              <a:t>Web Servers</a:t>
            </a: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/>
              <a:t>Cloud Computing</a:t>
            </a: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/>
              <a:t>Banking Systems</a:t>
            </a: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/>
              <a:t>Telecommunication</a:t>
            </a:r>
            <a:endParaRPr lang="en-US"/>
          </a:p>
          <a:p>
            <a:pPr marL="0" indent="0">
              <a:buNone/>
            </a:pPr>
            <a:r>
              <a:rPr>
                <a:sym typeface="+mn-ea"/>
              </a:rPr>
              <a:t>•</a:t>
            </a:r>
            <a:r>
              <a:rPr lang="en-US">
                <a:sym typeface="+mn-ea"/>
              </a:rPr>
              <a:t> </a:t>
            </a:r>
            <a:r>
              <a:rPr lang="en-US"/>
              <a:t>Scientific Research</a:t>
            </a:r>
            <a:endParaRPr lang="en-US"/>
          </a:p>
        </p:txBody>
      </p:sp>
      <p:pic>
        <p:nvPicPr>
          <p:cNvPr id="4" name="Picture 3" descr="ban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4410" y="1600200"/>
            <a:ext cx="3864610" cy="1990090"/>
          </a:xfrm>
          <a:prstGeom prst="rect">
            <a:avLst/>
          </a:prstGeom>
        </p:spPr>
      </p:pic>
      <p:pic>
        <p:nvPicPr>
          <p:cNvPr id="5" name="Picture 4" descr="ban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410" y="3407410"/>
            <a:ext cx="3865245" cy="195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2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Unix vs Windows</a:t>
            </a:r>
            <a:endParaRPr lang="en-US"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474345" y="1444625"/>
          <a:ext cx="8212455" cy="374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7485"/>
                <a:gridCol w="2737485"/>
                <a:gridCol w="2737485"/>
              </a:tblGrid>
              <a:tr h="7493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Feature</a:t>
                      </a:r>
                      <a:endParaRPr lang="en-US" sz="3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UNIX</a:t>
                      </a:r>
                      <a:endParaRPr lang="en-US" sz="3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WINDOWS</a:t>
                      </a:r>
                      <a:endParaRPr lang="en-US" sz="3600"/>
                    </a:p>
                  </a:txBody>
                  <a:tcPr anchor="ctr" anchorCtr="0"/>
                </a:tc>
              </a:tr>
              <a:tr h="7493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Interface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Command Line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Graphical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7493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Security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High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Moderate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493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Stability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Very High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Medium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7493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Users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Advance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3600"/>
                        <a:t>General</a:t>
                      </a:r>
                      <a:endParaRPr lang="en-US" sz="3600"/>
                    </a:p>
                  </a:txBody>
                  <a:tcPr anchor="ctr" anchorCtr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Advantages of UNIX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405" y="1600200"/>
            <a:ext cx="8229600" cy="4029710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txBody>
          <a:bodyPr/>
          <a:lstStyle/>
          <a:p>
            <a:pPr marL="0" indent="0" algn="l">
              <a:buNone/>
            </a:pPr>
            <a:r>
              <a:rPr sz="3600"/>
              <a:t>• High stability.</a:t>
            </a:r>
            <a:endParaRPr sz="3600"/>
          </a:p>
          <a:p>
            <a:pPr marL="0" indent="0" algn="l">
              <a:buNone/>
            </a:pPr>
            <a:r>
              <a:rPr sz="3600"/>
              <a:t>• Multiuser support.</a:t>
            </a:r>
            <a:endParaRPr sz="3600"/>
          </a:p>
          <a:p>
            <a:pPr marL="0" indent="0" algn="l">
              <a:buNone/>
            </a:pPr>
            <a:r>
              <a:rPr sz="3600"/>
              <a:t>• Secure system.</a:t>
            </a:r>
            <a:endParaRPr sz="3600"/>
          </a:p>
          <a:p>
            <a:pPr marL="0" indent="0" algn="l">
              <a:buNone/>
            </a:pPr>
            <a:r>
              <a:rPr sz="3600"/>
              <a:t>• Powerful networking.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3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Disadvantages of UNIX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04415"/>
            <a:ext cx="8229600" cy="3270885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txBody>
          <a:bodyPr/>
          <a:lstStyle/>
          <a:p>
            <a:pPr marL="0" indent="0">
              <a:buNone/>
            </a:pPr>
            <a:r>
              <a:rPr sz="3600"/>
              <a:t>• Hard for beginners.</a:t>
            </a:r>
            <a:endParaRPr sz="3600"/>
          </a:p>
          <a:p>
            <a:pPr marL="0" indent="0">
              <a:buNone/>
            </a:pPr>
            <a:r>
              <a:rPr sz="3600"/>
              <a:t>• Command-line based.</a:t>
            </a:r>
            <a:endParaRPr sz="3600"/>
          </a:p>
          <a:p>
            <a:pPr marL="0" indent="0">
              <a:buNone/>
            </a:pPr>
            <a:r>
              <a:rPr sz="3600"/>
              <a:t>• Less user-friendly.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1400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2">
                    <a:lumMod val="75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Summary</a:t>
            </a:r>
            <a:endParaRPr>
              <a:solidFill>
                <a:schemeClr val="tx2">
                  <a:lumMod val="75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94455"/>
          </a:xfr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</a:ln>
        </p:spPr>
        <p:txBody>
          <a:bodyPr/>
          <a:lstStyle/>
          <a:p>
            <a:pPr marL="0" indent="0">
              <a:buNone/>
            </a:pPr>
            <a:r>
              <a:rPr sz="3600"/>
              <a:t>• UNIX is powerful and reliable.</a:t>
            </a:r>
            <a:endParaRPr sz="3600"/>
          </a:p>
          <a:p>
            <a:pPr marL="0" indent="0">
              <a:buNone/>
            </a:pPr>
            <a:r>
              <a:rPr sz="3600"/>
              <a:t>• Used in modern systems.</a:t>
            </a:r>
            <a:endParaRPr sz="3600"/>
          </a:p>
          <a:p>
            <a:pPr marL="0" indent="0">
              <a:buNone/>
            </a:pPr>
            <a:r>
              <a:rPr sz="3600"/>
              <a:t>• Base for many OS.</a:t>
            </a:r>
            <a:endParaRPr sz="3600"/>
          </a:p>
          <a:p>
            <a:pPr marL="0" indent="0">
              <a:buNone/>
            </a:pPr>
            <a:r>
              <a:rPr sz="3600"/>
              <a:t>• Important in IT field.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20320" y="6461760"/>
            <a:ext cx="9123680" cy="40640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2000"/>
          </a:blip>
          <a:stretch>
            <a:fillRect l="-12000" r="-25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060" y="2647633"/>
            <a:ext cx="8229600" cy="1143000"/>
          </a:xfrm>
        </p:spPr>
        <p:txBody>
          <a:bodyPr/>
          <a:lstStyle/>
          <a:p>
            <a:r>
              <a:rPr sz="5400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Thank You</a:t>
            </a:r>
            <a:endParaRPr sz="5400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  <p:tag name="SlideZOrder" val="2"/>
  <p:tag name="KSO_WM_SHAPE_PLACEHOLDEROBJECT" val="1"/>
</p:tagLst>
</file>

<file path=ppt/tags/tag2.xml><?xml version="1.0" encoding="utf-8"?>
<p:tagLst xmlns:p="http://schemas.openxmlformats.org/presentationml/2006/main">
  <p:tag name="TABLE_ENDDRAG_ORIGIN_RECT" val="648*345"/>
  <p:tag name="TABLE_ENDDRAG_RECT" val="38*115*648*3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1865</Words>
  <Application>WPS Presentation</Application>
  <PresentationFormat>On-screen Show (4:3)</PresentationFormat>
  <Paragraphs>159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Algerian</vt:lpstr>
      <vt:lpstr>Calibri</vt:lpstr>
      <vt:lpstr>Microsoft YaHei</vt:lpstr>
      <vt:lpstr>Arial Unicode MS</vt:lpstr>
      <vt:lpstr>Office Theme</vt:lpstr>
      <vt:lpstr>PowerPoint 演示文稿</vt:lpstr>
      <vt:lpstr>What is UNIX</vt:lpstr>
      <vt:lpstr>Why UNIX is Used</vt:lpstr>
      <vt:lpstr>History of UNIX</vt:lpstr>
      <vt:lpstr>Core Features of Unix</vt:lpstr>
      <vt:lpstr>UNIX Architecture</vt:lpstr>
      <vt:lpstr>UNIX File System</vt:lpstr>
      <vt:lpstr>Basic UNIX Commands</vt:lpstr>
      <vt:lpstr>Popular Unix System</vt:lpstr>
      <vt:lpstr>Real-Life Uses of Unix</vt:lpstr>
      <vt:lpstr>Unix vs Windows</vt:lpstr>
      <vt:lpstr>Advantages of UNIX</vt:lpstr>
      <vt:lpstr>Disadvantages of UNIX</vt:lpstr>
      <vt:lpstr>Summary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Shuyaib Hasan</cp:lastModifiedBy>
  <cp:revision>18</cp:revision>
  <dcterms:created xsi:type="dcterms:W3CDTF">2013-01-27T09:14:00Z</dcterms:created>
  <dcterms:modified xsi:type="dcterms:W3CDTF">2026-04-26T06:28:18Z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976D05D7B00645C7B6B8A2DE2059BD2B_12</vt:lpwstr>
  </property>
</Properties>
</file>